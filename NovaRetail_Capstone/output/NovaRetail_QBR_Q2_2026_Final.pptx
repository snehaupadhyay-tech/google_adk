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1">
                <a:solidFill>
                  <a:srgbClr val="1F2937"/>
                </a:solidFill>
                <a:latin typeface="Aptos"/>
              </a:defRPr>
            </a:pPr>
            <a:r>
              <a:rPr lang="en-IN"/>
              <a:t>Revenue by Region ($M)</a:t>
            </a:r>
          </a:p>
        </c:rich>
      </c:tx>
      <c:overlay val="0"/>
    </c:title>
    <c:autoTitleDeleted val="0"/>
    <c:plotArea>
      <c:layout/>
      <c:barChart>
        <c:barDir val="col"/>
        <c:grouping val="clustered"/>
        <c:varyColors val="1"/>
        <c:ser>
          <c:idx val="0"/>
          <c:order val="0"/>
          <c:tx>
            <c:strRef>
              <c:f>Sheet1!$B$1</c:f>
              <c:strCache>
                <c:ptCount val="1"/>
                <c:pt idx="0">
                  <c:v>2025-Q3</c:v>
                </c:pt>
              </c:strCache>
            </c:strRef>
          </c:tx>
          <c:spPr>
            <a:solidFill>
              <a:srgbClr val="164E63"/>
            </a:solidFill>
            <a:ln>
              <a:solidFill>
                <a:srgbClr val="164E63"/>
              </a:solidFill>
            </a:ln>
          </c:spPr>
          <c:invertIfNegative val="1"/>
          <c:cat>
            <c:strRef>
              <c:f>Sheet1!$A$2:$A$5</c:f>
              <c:strCache>
                <c:ptCount val="4"/>
                <c:pt idx="0">
                  <c:v>North America</c:v>
                </c:pt>
                <c:pt idx="1">
                  <c:v>Europe</c:v>
                </c:pt>
                <c:pt idx="2">
                  <c:v>APAC</c:v>
                </c:pt>
                <c:pt idx="3">
                  <c:v>Latin America</c:v>
                </c:pt>
              </c:strCache>
            </c:strRef>
          </c:cat>
          <c:val>
            <c:numRef>
              <c:f>Sheet1!$B$2:$B$5</c:f>
              <c:numCache>
                <c:formatCode>General</c:formatCode>
                <c:ptCount val="4"/>
                <c:pt idx="0">
                  <c:v>420</c:v>
                </c:pt>
                <c:pt idx="1">
                  <c:v>310</c:v>
                </c:pt>
                <c:pt idx="2">
                  <c:v>260</c:v>
                </c:pt>
                <c:pt idx="3">
                  <c:v>150</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64E63"/>
                    </a:solidFill>
                  </a:ln>
                </c14:spPr>
              </c14:invertSolidFillFmt>
            </c:ext>
            <c:ext xmlns:c16="http://schemas.microsoft.com/office/drawing/2014/chart" uri="{C3380CC4-5D6E-409C-BE32-E72D297353CC}">
              <c16:uniqueId val="{00000000-A73F-467C-B13F-F0D509DB0880}"/>
            </c:ext>
          </c:extLst>
        </c:ser>
        <c:ser>
          <c:idx val="1"/>
          <c:order val="1"/>
          <c:tx>
            <c:strRef>
              <c:f>Sheet1!$C$1</c:f>
              <c:strCache>
                <c:ptCount val="1"/>
                <c:pt idx="0">
                  <c:v>2025-Q4</c:v>
                </c:pt>
              </c:strCache>
            </c:strRef>
          </c:tx>
          <c:spPr>
            <a:solidFill>
              <a:srgbClr val="0F766E"/>
            </a:solidFill>
            <a:ln>
              <a:solidFill>
                <a:srgbClr val="0F766E"/>
              </a:solidFill>
            </a:ln>
          </c:spPr>
          <c:invertIfNegative val="1"/>
          <c:cat>
            <c:strRef>
              <c:f>Sheet1!$A$2:$A$5</c:f>
              <c:strCache>
                <c:ptCount val="4"/>
                <c:pt idx="0">
                  <c:v>North America</c:v>
                </c:pt>
                <c:pt idx="1">
                  <c:v>Europe</c:v>
                </c:pt>
                <c:pt idx="2">
                  <c:v>APAC</c:v>
                </c:pt>
                <c:pt idx="3">
                  <c:v>Latin America</c:v>
                </c:pt>
              </c:strCache>
            </c:strRef>
          </c:cat>
          <c:val>
            <c:numRef>
              <c:f>Sheet1!$C$2:$C$5</c:f>
              <c:numCache>
                <c:formatCode>General</c:formatCode>
                <c:ptCount val="4"/>
                <c:pt idx="0">
                  <c:v>460</c:v>
                </c:pt>
                <c:pt idx="1">
                  <c:v>350</c:v>
                </c:pt>
                <c:pt idx="2">
                  <c:v>300</c:v>
                </c:pt>
                <c:pt idx="3">
                  <c:v>165</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0F766E"/>
                    </a:solidFill>
                  </a:ln>
                </c14:spPr>
              </c14:invertSolidFillFmt>
            </c:ext>
            <c:ext xmlns:c16="http://schemas.microsoft.com/office/drawing/2014/chart" uri="{C3380CC4-5D6E-409C-BE32-E72D297353CC}">
              <c16:uniqueId val="{00000001-A73F-467C-B13F-F0D509DB0880}"/>
            </c:ext>
          </c:extLst>
        </c:ser>
        <c:ser>
          <c:idx val="2"/>
          <c:order val="2"/>
          <c:tx>
            <c:strRef>
              <c:f>Sheet1!$D$1</c:f>
              <c:strCache>
                <c:ptCount val="1"/>
                <c:pt idx="0">
                  <c:v>2026-Q1</c:v>
                </c:pt>
              </c:strCache>
            </c:strRef>
          </c:tx>
          <c:spPr>
            <a:solidFill>
              <a:srgbClr val="14B8A6"/>
            </a:solidFill>
            <a:ln>
              <a:solidFill>
                <a:srgbClr val="14B8A6"/>
              </a:solidFill>
            </a:ln>
          </c:spPr>
          <c:invertIfNegative val="1"/>
          <c:cat>
            <c:strRef>
              <c:f>Sheet1!$A$2:$A$5</c:f>
              <c:strCache>
                <c:ptCount val="4"/>
                <c:pt idx="0">
                  <c:v>North America</c:v>
                </c:pt>
                <c:pt idx="1">
                  <c:v>Europe</c:v>
                </c:pt>
                <c:pt idx="2">
                  <c:v>APAC</c:v>
                </c:pt>
                <c:pt idx="3">
                  <c:v>Latin America</c:v>
                </c:pt>
              </c:strCache>
            </c:strRef>
          </c:cat>
          <c:val>
            <c:numRef>
              <c:f>Sheet1!$D$2:$D$5</c:f>
              <c:numCache>
                <c:formatCode>General</c:formatCode>
                <c:ptCount val="4"/>
                <c:pt idx="0">
                  <c:v>440</c:v>
                </c:pt>
                <c:pt idx="1">
                  <c:v>330</c:v>
                </c:pt>
                <c:pt idx="2">
                  <c:v>305</c:v>
                </c:pt>
                <c:pt idx="3">
                  <c:v>150</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4B8A6"/>
                    </a:solidFill>
                  </a:ln>
                </c14:spPr>
              </c14:invertSolidFillFmt>
            </c:ext>
            <c:ext xmlns:c16="http://schemas.microsoft.com/office/drawing/2014/chart" uri="{C3380CC4-5D6E-409C-BE32-E72D297353CC}">
              <c16:uniqueId val="{00000002-A73F-467C-B13F-F0D509DB0880}"/>
            </c:ext>
          </c:extLst>
        </c:ser>
        <c:ser>
          <c:idx val="3"/>
          <c:order val="3"/>
          <c:tx>
            <c:strRef>
              <c:f>Sheet1!$E$1</c:f>
              <c:strCache>
                <c:ptCount val="1"/>
                <c:pt idx="0">
                  <c:v>2026-Q2</c:v>
                </c:pt>
              </c:strCache>
            </c:strRef>
          </c:tx>
          <c:spPr>
            <a:solidFill>
              <a:srgbClr val="F59E0B"/>
            </a:solidFill>
            <a:ln>
              <a:solidFill>
                <a:srgbClr val="F59E0B"/>
              </a:solidFill>
            </a:ln>
          </c:spPr>
          <c:invertIfNegative val="1"/>
          <c:cat>
            <c:strRef>
              <c:f>Sheet1!$A$2:$A$5</c:f>
              <c:strCache>
                <c:ptCount val="4"/>
                <c:pt idx="0">
                  <c:v>North America</c:v>
                </c:pt>
                <c:pt idx="1">
                  <c:v>Europe</c:v>
                </c:pt>
                <c:pt idx="2">
                  <c:v>APAC</c:v>
                </c:pt>
                <c:pt idx="3">
                  <c:v>Latin America</c:v>
                </c:pt>
              </c:strCache>
            </c:strRef>
          </c:cat>
          <c:val>
            <c:numRef>
              <c:f>Sheet1!$E$2:$E$5</c:f>
              <c:numCache>
                <c:formatCode>General</c:formatCode>
                <c:ptCount val="4"/>
                <c:pt idx="0">
                  <c:v>465</c:v>
                </c:pt>
                <c:pt idx="1">
                  <c:v>345</c:v>
                </c:pt>
                <c:pt idx="2">
                  <c:v>330</c:v>
                </c:pt>
                <c:pt idx="3">
                  <c:v>140</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59E0B"/>
                    </a:solidFill>
                  </a:ln>
                </c14:spPr>
              </c14:invertSolidFillFmt>
            </c:ext>
            <c:ext xmlns:c16="http://schemas.microsoft.com/office/drawing/2014/chart" uri="{C3380CC4-5D6E-409C-BE32-E72D297353CC}">
              <c16:uniqueId val="{00000003-A73F-467C-B13F-F0D509DB088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4B5563"/>
                </a:solidFill>
                <a:latin typeface="Aptos"/>
              </a:defRPr>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spPr>
          <a:ln>
            <a:solidFill>
              <a:srgbClr val="D1D5DB"/>
            </a:solidFill>
          </a:ln>
        </c:spPr>
        <c:txPr>
          <a:bodyPr/>
          <a:lstStyle/>
          <a:p>
            <a:pPr>
              <a:defRPr sz="1000">
                <a:solidFill>
                  <a:srgbClr val="4B5563"/>
                </a:solidFill>
                <a:latin typeface="Aptos"/>
              </a:defRPr>
            </a:pPr>
            <a:endParaRPr lang="en-US"/>
          </a:p>
        </c:txPr>
        <c:crossAx val="-2068027336"/>
        <c:crosses val="autoZero"/>
        <c:crossBetween val="between"/>
      </c:valAx>
    </c:plotArea>
    <c:legend>
      <c:legendPos val="b"/>
      <c:overlay val="0"/>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1">
                <a:solidFill>
                  <a:srgbClr val="1F2937"/>
                </a:solidFill>
                <a:latin typeface="Aptos"/>
              </a:defRPr>
            </a:pPr>
            <a:r>
              <a:rPr lang="en-IN"/>
              <a:t>NPS Trend by Region</a:t>
            </a:r>
          </a:p>
        </c:rich>
      </c:tx>
      <c:overlay val="0"/>
    </c:title>
    <c:autoTitleDeleted val="0"/>
    <c:plotArea>
      <c:layout/>
      <c:lineChart>
        <c:grouping val="standard"/>
        <c:varyColors val="0"/>
        <c:ser>
          <c:idx val="0"/>
          <c:order val="0"/>
          <c:tx>
            <c:strRef>
              <c:f>Sheet1!$B$1</c:f>
              <c:strCache>
                <c:ptCount val="1"/>
                <c:pt idx="0">
                  <c:v>North America</c:v>
                </c:pt>
              </c:strCache>
            </c:strRef>
          </c:tx>
          <c:spPr>
            <a:ln w="28575">
              <a:solidFill>
                <a:srgbClr val="164E63"/>
              </a:solidFill>
            </a:ln>
          </c:spPr>
          <c:cat>
            <c:strRef>
              <c:f>Sheet1!$A$2:$A$5</c:f>
              <c:strCache>
                <c:ptCount val="4"/>
                <c:pt idx="0">
                  <c:v>2025-Q3</c:v>
                </c:pt>
                <c:pt idx="1">
                  <c:v>2025-Q4</c:v>
                </c:pt>
                <c:pt idx="2">
                  <c:v>2026-Q1</c:v>
                </c:pt>
                <c:pt idx="3">
                  <c:v>2026-Q2</c:v>
                </c:pt>
              </c:strCache>
            </c:strRef>
          </c:cat>
          <c:val>
            <c:numRef>
              <c:f>Sheet1!$B$2:$B$5</c:f>
              <c:numCache>
                <c:formatCode>General</c:formatCode>
                <c:ptCount val="4"/>
                <c:pt idx="0">
                  <c:v>52</c:v>
                </c:pt>
                <c:pt idx="1">
                  <c:v>54</c:v>
                </c:pt>
                <c:pt idx="2">
                  <c:v>53</c:v>
                </c:pt>
                <c:pt idx="3">
                  <c:v>55</c:v>
                </c:pt>
              </c:numCache>
            </c:numRef>
          </c:val>
          <c:smooth val="0"/>
          <c:extLst>
            <c:ext xmlns:c16="http://schemas.microsoft.com/office/drawing/2014/chart" uri="{C3380CC4-5D6E-409C-BE32-E72D297353CC}">
              <c16:uniqueId val="{00000000-216D-45D6-928E-AAD62CF18B9C}"/>
            </c:ext>
          </c:extLst>
        </c:ser>
        <c:ser>
          <c:idx val="1"/>
          <c:order val="1"/>
          <c:tx>
            <c:strRef>
              <c:f>Sheet1!$C$1</c:f>
              <c:strCache>
                <c:ptCount val="1"/>
                <c:pt idx="0">
                  <c:v>Europe</c:v>
                </c:pt>
              </c:strCache>
            </c:strRef>
          </c:tx>
          <c:spPr>
            <a:ln w="28575">
              <a:solidFill>
                <a:srgbClr val="0F766E"/>
              </a:solidFill>
            </a:ln>
          </c:spPr>
          <c:cat>
            <c:strRef>
              <c:f>Sheet1!$A$2:$A$5</c:f>
              <c:strCache>
                <c:ptCount val="4"/>
                <c:pt idx="0">
                  <c:v>2025-Q3</c:v>
                </c:pt>
                <c:pt idx="1">
                  <c:v>2025-Q4</c:v>
                </c:pt>
                <c:pt idx="2">
                  <c:v>2026-Q1</c:v>
                </c:pt>
                <c:pt idx="3">
                  <c:v>2026-Q2</c:v>
                </c:pt>
              </c:strCache>
            </c:strRef>
          </c:cat>
          <c:val>
            <c:numRef>
              <c:f>Sheet1!$C$2:$C$5</c:f>
              <c:numCache>
                <c:formatCode>General</c:formatCode>
                <c:ptCount val="4"/>
                <c:pt idx="0">
                  <c:v>48</c:v>
                </c:pt>
                <c:pt idx="1">
                  <c:v>50</c:v>
                </c:pt>
                <c:pt idx="2">
                  <c:v>51</c:v>
                </c:pt>
                <c:pt idx="3">
                  <c:v>53</c:v>
                </c:pt>
              </c:numCache>
            </c:numRef>
          </c:val>
          <c:smooth val="0"/>
          <c:extLst>
            <c:ext xmlns:c16="http://schemas.microsoft.com/office/drawing/2014/chart" uri="{C3380CC4-5D6E-409C-BE32-E72D297353CC}">
              <c16:uniqueId val="{00000001-216D-45D6-928E-AAD62CF18B9C}"/>
            </c:ext>
          </c:extLst>
        </c:ser>
        <c:ser>
          <c:idx val="2"/>
          <c:order val="2"/>
          <c:tx>
            <c:strRef>
              <c:f>Sheet1!$D$1</c:f>
              <c:strCache>
                <c:ptCount val="1"/>
                <c:pt idx="0">
                  <c:v>APAC</c:v>
                </c:pt>
              </c:strCache>
            </c:strRef>
          </c:tx>
          <c:spPr>
            <a:ln w="28575">
              <a:solidFill>
                <a:srgbClr val="14B8A6"/>
              </a:solidFill>
            </a:ln>
          </c:spPr>
          <c:cat>
            <c:strRef>
              <c:f>Sheet1!$A$2:$A$5</c:f>
              <c:strCache>
                <c:ptCount val="4"/>
                <c:pt idx="0">
                  <c:v>2025-Q3</c:v>
                </c:pt>
                <c:pt idx="1">
                  <c:v>2025-Q4</c:v>
                </c:pt>
                <c:pt idx="2">
                  <c:v>2026-Q1</c:v>
                </c:pt>
                <c:pt idx="3">
                  <c:v>2026-Q2</c:v>
                </c:pt>
              </c:strCache>
            </c:strRef>
          </c:cat>
          <c:val>
            <c:numRef>
              <c:f>Sheet1!$D$2:$D$5</c:f>
              <c:numCache>
                <c:formatCode>General</c:formatCode>
                <c:ptCount val="4"/>
                <c:pt idx="0">
                  <c:v>58</c:v>
                </c:pt>
                <c:pt idx="1">
                  <c:v>60</c:v>
                </c:pt>
                <c:pt idx="2">
                  <c:v>61</c:v>
                </c:pt>
                <c:pt idx="3">
                  <c:v>62</c:v>
                </c:pt>
              </c:numCache>
            </c:numRef>
          </c:val>
          <c:smooth val="0"/>
          <c:extLst>
            <c:ext xmlns:c16="http://schemas.microsoft.com/office/drawing/2014/chart" uri="{C3380CC4-5D6E-409C-BE32-E72D297353CC}">
              <c16:uniqueId val="{00000002-216D-45D6-928E-AAD62CF18B9C}"/>
            </c:ext>
          </c:extLst>
        </c:ser>
        <c:ser>
          <c:idx val="3"/>
          <c:order val="3"/>
          <c:tx>
            <c:strRef>
              <c:f>Sheet1!$E$1</c:f>
              <c:strCache>
                <c:ptCount val="1"/>
                <c:pt idx="0">
                  <c:v>Latin America</c:v>
                </c:pt>
              </c:strCache>
            </c:strRef>
          </c:tx>
          <c:spPr>
            <a:ln w="28575">
              <a:solidFill>
                <a:srgbClr val="F59E0B"/>
              </a:solidFill>
            </a:ln>
          </c:spPr>
          <c:cat>
            <c:strRef>
              <c:f>Sheet1!$A$2:$A$5</c:f>
              <c:strCache>
                <c:ptCount val="4"/>
                <c:pt idx="0">
                  <c:v>2025-Q3</c:v>
                </c:pt>
                <c:pt idx="1">
                  <c:v>2025-Q4</c:v>
                </c:pt>
                <c:pt idx="2">
                  <c:v>2026-Q1</c:v>
                </c:pt>
                <c:pt idx="3">
                  <c:v>2026-Q2</c:v>
                </c:pt>
              </c:strCache>
            </c:strRef>
          </c:cat>
          <c:val>
            <c:numRef>
              <c:f>Sheet1!$E$2:$E$5</c:f>
              <c:numCache>
                <c:formatCode>General</c:formatCode>
                <c:ptCount val="4"/>
                <c:pt idx="0">
                  <c:v>38</c:v>
                </c:pt>
                <c:pt idx="1">
                  <c:v>35</c:v>
                </c:pt>
                <c:pt idx="2">
                  <c:v>32</c:v>
                </c:pt>
                <c:pt idx="3">
                  <c:v>29</c:v>
                </c:pt>
              </c:numCache>
            </c:numRef>
          </c:val>
          <c:smooth val="0"/>
          <c:extLst>
            <c:ext xmlns:c16="http://schemas.microsoft.com/office/drawing/2014/chart" uri="{C3380CC4-5D6E-409C-BE32-E72D297353CC}">
              <c16:uniqueId val="{00000003-216D-45D6-928E-AAD62CF18B9C}"/>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000">
                <a:solidFill>
                  <a:srgbClr val="4B5563"/>
                </a:solidFill>
                <a:latin typeface="Aptos"/>
              </a:defRPr>
            </a:pPr>
            <a:endParaRPr lang="en-US"/>
          </a:p>
        </c:txPr>
        <c:crossAx val="2140495176"/>
        <c:crosses val="autoZero"/>
        <c:auto val="1"/>
        <c:lblAlgn val="ctr"/>
        <c:lblOffset val="100"/>
        <c:noMultiLvlLbl val="0"/>
      </c:catAx>
      <c:valAx>
        <c:axId val="2140495176"/>
        <c:scaling>
          <c:orientation val="minMax"/>
          <c:max val="70"/>
          <c:min val="0"/>
        </c:scaling>
        <c:delete val="0"/>
        <c:axPos val="l"/>
        <c:majorGridlines/>
        <c:numFmt formatCode="General" sourceLinked="1"/>
        <c:majorTickMark val="out"/>
        <c:minorTickMark val="none"/>
        <c:tickLblPos val="nextTo"/>
        <c:spPr>
          <a:ln>
            <a:solidFill>
              <a:srgbClr val="D1D5DB"/>
            </a:solidFill>
          </a:ln>
        </c:spPr>
        <c:txPr>
          <a:bodyPr/>
          <a:lstStyle/>
          <a:p>
            <a:pPr>
              <a:defRPr sz="1000">
                <a:solidFill>
                  <a:srgbClr val="4B5563"/>
                </a:solidFill>
                <a:latin typeface="Aptos"/>
              </a:defRPr>
            </a:pPr>
            <a:endParaRPr lang="en-US"/>
          </a:p>
        </c:txPr>
        <c:crossAx val="2118791784"/>
        <c:crosses val="autoZero"/>
        <c:crossBetween val="between"/>
      </c:valAx>
    </c:plotArea>
    <c:legend>
      <c:legendPos val="b"/>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1">
                <a:solidFill>
                  <a:srgbClr val="1F2937"/>
                </a:solidFill>
                <a:latin typeface="Aptos"/>
              </a:defRPr>
            </a:pPr>
            <a:r>
              <a:rPr lang="en-US"/>
              <a:t>Q2 2026 Stockout Rate by Region</a:t>
            </a:r>
          </a:p>
        </c:rich>
      </c:tx>
      <c:overlay val="0"/>
    </c:title>
    <c:autoTitleDeleted val="0"/>
    <c:plotArea>
      <c:layout/>
      <c:barChart>
        <c:barDir val="col"/>
        <c:grouping val="clustered"/>
        <c:varyColors val="1"/>
        <c:ser>
          <c:idx val="0"/>
          <c:order val="0"/>
          <c:tx>
            <c:strRef>
              <c:f>Sheet1!$B$1</c:f>
              <c:strCache>
                <c:ptCount val="1"/>
                <c:pt idx="0">
                  <c:v>Stockout Rate %</c:v>
                </c:pt>
              </c:strCache>
            </c:strRef>
          </c:tx>
          <c:spPr>
            <a:solidFill>
              <a:srgbClr val="164E63"/>
            </a:solidFill>
            <a:ln>
              <a:solidFill>
                <a:srgbClr val="164E63"/>
              </a:solidFill>
            </a:ln>
          </c:spPr>
          <c:invertIfNegative val="1"/>
          <c:cat>
            <c:strRef>
              <c:f>Sheet1!$A$2:$A$5</c:f>
              <c:strCache>
                <c:ptCount val="4"/>
                <c:pt idx="0">
                  <c:v>North America</c:v>
                </c:pt>
                <c:pt idx="1">
                  <c:v>Europe</c:v>
                </c:pt>
                <c:pt idx="2">
                  <c:v>APAC</c:v>
                </c:pt>
                <c:pt idx="3">
                  <c:v>Latin America</c:v>
                </c:pt>
              </c:strCache>
            </c:strRef>
          </c:cat>
          <c:val>
            <c:numRef>
              <c:f>Sheet1!$B$2:$B$5</c:f>
              <c:numCache>
                <c:formatCode>General</c:formatCode>
                <c:ptCount val="4"/>
                <c:pt idx="0">
                  <c:v>3.8</c:v>
                </c:pt>
                <c:pt idx="1">
                  <c:v>4</c:v>
                </c:pt>
                <c:pt idx="2">
                  <c:v>8.5</c:v>
                </c:pt>
                <c:pt idx="3">
                  <c:v>12.5</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64E63"/>
                    </a:solidFill>
                  </a:ln>
                </c14:spPr>
              </c14:invertSolidFillFmt>
            </c:ext>
            <c:ext xmlns:c16="http://schemas.microsoft.com/office/drawing/2014/chart" uri="{C3380CC4-5D6E-409C-BE32-E72D297353CC}">
              <c16:uniqueId val="{00000000-A726-48C9-B9CC-B5B88B7E103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4B5563"/>
                </a:solidFill>
                <a:latin typeface="Aptos"/>
              </a:defRPr>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numFmt formatCode="General" sourceLinked="1"/>
        <c:majorTickMark val="out"/>
        <c:minorTickMark val="none"/>
        <c:tickLblPos val="nextTo"/>
        <c:spPr>
          <a:ln>
            <a:solidFill>
              <a:srgbClr val="D1D5DB"/>
            </a:solidFill>
          </a:ln>
        </c:spPr>
        <c:txPr>
          <a:bodyPr/>
          <a:lstStyle/>
          <a:p>
            <a:pPr>
              <a:defRPr sz="1000">
                <a:solidFill>
                  <a:srgbClr val="4B5563"/>
                </a:solidFill>
                <a:latin typeface="Aptos"/>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744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1E8F60-6514-E47A-26D5-1E06D298D9A1}"/>
              </a:ext>
            </a:extLst>
          </p:cNvPr>
          <p:cNvSpPr txBox="1"/>
          <p:nvPr userDrawn="1">
            <p:extLst>
              <p:ext uri="{1162E1C5-73C7-4A58-AE30-91384D911F3F}">
                <p184:classification xmlns:p184="http://schemas.microsoft.com/office/powerpoint/2018/4/main" val="ftr"/>
              </p:ext>
            </p:extLst>
          </p:nvPr>
        </p:nvSpPr>
        <p:spPr>
          <a:xfrm>
            <a:off x="63500" y="6672580"/>
            <a:ext cx="855663" cy="121920"/>
          </a:xfrm>
          <a:prstGeom prst="rect">
            <a:avLst/>
          </a:prstGeom>
        </p:spPr>
        <p:txBody>
          <a:bodyPr horzOverflow="overflow" lIns="0" tIns="0" rIns="0" bIns="0">
            <a:spAutoFit/>
          </a:bodyPr>
          <a:lstStyle/>
          <a:p>
            <a:pPr algn="l"/>
            <a:r>
              <a:rPr lang="en-IN" sz="800">
                <a:solidFill>
                  <a:srgbClr val="317100">
                    <a:alpha val="50000"/>
                  </a:srgbClr>
                </a:solidFill>
                <a:latin typeface="Aptos" panose="020B0004020202020204" pitchFamily="34" charset="0"/>
              </a:rPr>
              <a:t>Sensitivity: 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deck_title"/>
          <p:cNvSpPr txBox="1"/>
          <p:nvPr/>
        </p:nvSpPr>
        <p:spPr>
          <a:xfrm>
            <a:off x="548640" y="457200"/>
            <a:ext cx="11091672" cy="64008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NovaRetail — Quarterly Business Review</a:t>
            </a:r>
            <a:endParaRPr lang="en-US" sz="3200" dirty="0"/>
          </a:p>
        </p:txBody>
      </p:sp>
      <p:sp>
        <p:nvSpPr>
          <p:cNvPr id="3" name="subtitle_1"/>
          <p:cNvSpPr txBox="1"/>
          <p:nvPr/>
        </p:nvSpPr>
        <p:spPr>
          <a:xfrm>
            <a:off x="548640" y="1078992"/>
            <a:ext cx="11091672" cy="365760"/>
          </a:xfrm>
          <a:prstGeom prst="rect">
            <a:avLst/>
          </a:prstGeom>
          <a:noFill/>
          <a:ln/>
        </p:spPr>
        <p:txBody>
          <a:bodyPr wrap="square" lIns="0" tIns="0" rIns="0" bIns="0" rtlCol="0" anchor="ctr"/>
          <a:lstStyle/>
          <a:p>
            <a:pPr marL="0" indent="0" algn="l">
              <a:buNone/>
            </a:pPr>
            <a:r>
              <a:rPr sz="1600" b="1" dirty="0">
                <a:solidFill>
                  <a:schemeClr val="accent6">
                    <a:lumMod val="20000"/>
                    <a:lumOff val="80000"/>
                  </a:schemeClr>
                </a:solidFill>
                <a:latin typeface="Aptos"/>
              </a:rPr>
              <a:t>Q2 2026 | Quarterly Business Review</a:t>
            </a:r>
            <a:endParaRPr lang="en-US" sz="1500" dirty="0">
              <a:solidFill>
                <a:schemeClr val="accent6">
                  <a:lumMod val="20000"/>
                  <a:lumOff val="80000"/>
                </a:schemeClr>
              </a:solidFill>
            </a:endParaRPr>
          </a:p>
        </p:txBody>
      </p:sp>
      <p:sp>
        <p:nvSpPr>
          <p:cNvPr id="4" name="kpi1_box"/>
          <p:cNvSpPr/>
          <p:nvPr/>
        </p:nvSpPr>
        <p:spPr>
          <a:xfrm>
            <a:off x="548640" y="1874520"/>
            <a:ext cx="3453384" cy="1417320"/>
          </a:xfrm>
          <a:prstGeom prst="roundRect">
            <a:avLst>
              <a:gd name="adj" fmla="val 3871"/>
            </a:avLst>
          </a:prstGeom>
          <a:solidFill>
            <a:srgbClr val="14193F"/>
          </a:solidFill>
          <a:ln/>
        </p:spPr>
        <p:txBody>
          <a:bodyPr/>
          <a:lstStyle/>
          <a:p>
            <a:endParaRPr lang="en-IN"/>
          </a:p>
        </p:txBody>
      </p:sp>
      <p:sp>
        <p:nvSpPr>
          <p:cNvPr id="5" name="kpi1_value"/>
          <p:cNvSpPr txBox="1"/>
          <p:nvPr/>
        </p:nvSpPr>
        <p:spPr>
          <a:xfrm>
            <a:off x="685800" y="2039112"/>
            <a:ext cx="3179064" cy="640080"/>
          </a:xfrm>
          <a:prstGeom prst="rect">
            <a:avLst/>
          </a:prstGeom>
          <a:noFill/>
          <a:ln/>
        </p:spPr>
        <p:txBody>
          <a:bodyPr wrap="square" lIns="0" tIns="0" rIns="0" bIns="0" rtlCol="0" anchor="ctr"/>
          <a:lstStyle/>
          <a:p>
            <a:pPr marL="0" indent="0" algn="ctr">
              <a:buNone/>
            </a:pPr>
            <a:r>
              <a:rPr sz="2600" b="1" dirty="0">
                <a:solidFill>
                  <a:schemeClr val="bg1"/>
                </a:solidFill>
                <a:latin typeface="Aptos"/>
              </a:rPr>
              <a:t>$1.28B</a:t>
            </a:r>
            <a:endParaRPr lang="en-US" sz="3200" dirty="0">
              <a:solidFill>
                <a:schemeClr val="bg1"/>
              </a:solidFill>
            </a:endParaRPr>
          </a:p>
        </p:txBody>
      </p:sp>
      <p:sp>
        <p:nvSpPr>
          <p:cNvPr id="6" name="kpi1_label"/>
          <p:cNvSpPr txBox="1"/>
          <p:nvPr/>
        </p:nvSpPr>
        <p:spPr>
          <a:xfrm>
            <a:off x="685800" y="2743200"/>
            <a:ext cx="3179064" cy="502920"/>
          </a:xfrm>
          <a:prstGeom prst="rect">
            <a:avLst/>
          </a:prstGeom>
          <a:noFill/>
          <a:ln/>
        </p:spPr>
        <p:txBody>
          <a:bodyPr wrap="square" lIns="0" tIns="0" rIns="0" bIns="0" rtlCol="0" anchor="ctr"/>
          <a:lstStyle/>
          <a:p>
            <a:pPr marL="0" indent="0" algn="ctr">
              <a:buNone/>
            </a:pPr>
            <a:r>
              <a:rPr sz="1200" b="1" dirty="0">
                <a:solidFill>
                  <a:schemeClr val="accent6">
                    <a:lumMod val="20000"/>
                    <a:lumOff val="80000"/>
                  </a:schemeClr>
                </a:solidFill>
                <a:latin typeface="Aptos"/>
              </a:rPr>
              <a:t>Q2 Revenue</a:t>
            </a:r>
            <a:endParaRPr lang="en-US" sz="1100" b="1" dirty="0">
              <a:solidFill>
                <a:schemeClr val="accent6">
                  <a:lumMod val="20000"/>
                  <a:lumOff val="80000"/>
                </a:schemeClr>
              </a:solidFill>
            </a:endParaRPr>
          </a:p>
        </p:txBody>
      </p:sp>
      <p:sp>
        <p:nvSpPr>
          <p:cNvPr id="7" name="kpi2_box"/>
          <p:cNvSpPr/>
          <p:nvPr/>
        </p:nvSpPr>
        <p:spPr>
          <a:xfrm>
            <a:off x="4367784" y="1874520"/>
            <a:ext cx="3453384" cy="1417320"/>
          </a:xfrm>
          <a:prstGeom prst="roundRect">
            <a:avLst>
              <a:gd name="adj" fmla="val 3871"/>
            </a:avLst>
          </a:prstGeom>
          <a:solidFill>
            <a:srgbClr val="14193F"/>
          </a:solidFill>
          <a:ln/>
        </p:spPr>
        <p:txBody>
          <a:bodyPr/>
          <a:lstStyle/>
          <a:p>
            <a:endParaRPr lang="en-IN"/>
          </a:p>
        </p:txBody>
      </p:sp>
      <p:sp>
        <p:nvSpPr>
          <p:cNvPr id="8" name="kpi2_value"/>
          <p:cNvSpPr txBox="1"/>
          <p:nvPr/>
        </p:nvSpPr>
        <p:spPr>
          <a:xfrm>
            <a:off x="4504944" y="2039112"/>
            <a:ext cx="3179064" cy="640080"/>
          </a:xfrm>
          <a:prstGeom prst="rect">
            <a:avLst/>
          </a:prstGeom>
          <a:noFill/>
          <a:ln/>
        </p:spPr>
        <p:txBody>
          <a:bodyPr wrap="square" lIns="0" tIns="0" rIns="0" bIns="0" rtlCol="0" anchor="ctr"/>
          <a:lstStyle/>
          <a:p>
            <a:pPr marL="0" indent="0" algn="ctr">
              <a:buNone/>
            </a:pPr>
            <a:r>
              <a:rPr sz="2600" b="1" dirty="0">
                <a:solidFill>
                  <a:schemeClr val="bg1"/>
                </a:solidFill>
                <a:latin typeface="Aptos"/>
              </a:rPr>
              <a:t>+4.5%</a:t>
            </a:r>
            <a:endParaRPr lang="en-US" sz="3200" dirty="0">
              <a:solidFill>
                <a:schemeClr val="bg1"/>
              </a:solidFill>
            </a:endParaRPr>
          </a:p>
        </p:txBody>
      </p:sp>
      <p:sp>
        <p:nvSpPr>
          <p:cNvPr id="9" name="kpi2_label"/>
          <p:cNvSpPr txBox="1"/>
          <p:nvPr/>
        </p:nvSpPr>
        <p:spPr>
          <a:xfrm>
            <a:off x="4504944" y="2743200"/>
            <a:ext cx="3179064" cy="502920"/>
          </a:xfrm>
          <a:prstGeom prst="rect">
            <a:avLst/>
          </a:prstGeom>
          <a:noFill/>
          <a:ln/>
        </p:spPr>
        <p:txBody>
          <a:bodyPr wrap="square" lIns="0" tIns="0" rIns="0" bIns="0" rtlCol="0" anchor="ctr"/>
          <a:lstStyle/>
          <a:p>
            <a:pPr marL="0" indent="0" algn="ctr">
              <a:buNone/>
            </a:pPr>
            <a:r>
              <a:rPr sz="1200" b="1" dirty="0">
                <a:solidFill>
                  <a:schemeClr val="bg1"/>
                </a:solidFill>
                <a:latin typeface="Aptos"/>
              </a:rPr>
              <a:t>QoQ Revenue Growth</a:t>
            </a:r>
            <a:endParaRPr lang="en-US" sz="1100" b="1" dirty="0">
              <a:solidFill>
                <a:schemeClr val="bg1"/>
              </a:solidFill>
            </a:endParaRPr>
          </a:p>
        </p:txBody>
      </p:sp>
      <p:sp>
        <p:nvSpPr>
          <p:cNvPr id="10" name="kpi3_box"/>
          <p:cNvSpPr/>
          <p:nvPr/>
        </p:nvSpPr>
        <p:spPr>
          <a:xfrm>
            <a:off x="8186928" y="1874520"/>
            <a:ext cx="3453384" cy="1417320"/>
          </a:xfrm>
          <a:prstGeom prst="roundRect">
            <a:avLst>
              <a:gd name="adj" fmla="val 3871"/>
            </a:avLst>
          </a:prstGeom>
          <a:solidFill>
            <a:srgbClr val="14193F"/>
          </a:solidFill>
          <a:ln/>
        </p:spPr>
        <p:txBody>
          <a:bodyPr/>
          <a:lstStyle/>
          <a:p>
            <a:endParaRPr lang="en-IN"/>
          </a:p>
        </p:txBody>
      </p:sp>
      <p:sp>
        <p:nvSpPr>
          <p:cNvPr id="11" name="kpi3_value"/>
          <p:cNvSpPr txBox="1"/>
          <p:nvPr/>
        </p:nvSpPr>
        <p:spPr>
          <a:xfrm>
            <a:off x="8324088" y="2039112"/>
            <a:ext cx="3179064" cy="640080"/>
          </a:xfrm>
          <a:prstGeom prst="rect">
            <a:avLst/>
          </a:prstGeom>
          <a:noFill/>
          <a:ln/>
        </p:spPr>
        <p:txBody>
          <a:bodyPr wrap="square" lIns="0" tIns="0" rIns="0" bIns="0" rtlCol="0" anchor="ctr"/>
          <a:lstStyle/>
          <a:p>
            <a:pPr marL="0" indent="0" algn="ctr">
              <a:buNone/>
            </a:pPr>
            <a:r>
              <a:rPr sz="2600" b="1" dirty="0">
                <a:solidFill>
                  <a:schemeClr val="bg1"/>
                </a:solidFill>
                <a:latin typeface="Aptos"/>
              </a:rPr>
              <a:t>49.8</a:t>
            </a:r>
            <a:endParaRPr lang="en-US" sz="3200" dirty="0">
              <a:solidFill>
                <a:schemeClr val="bg1"/>
              </a:solidFill>
            </a:endParaRPr>
          </a:p>
        </p:txBody>
      </p:sp>
      <p:sp>
        <p:nvSpPr>
          <p:cNvPr id="12" name="kpi3_label"/>
          <p:cNvSpPr txBox="1"/>
          <p:nvPr/>
        </p:nvSpPr>
        <p:spPr>
          <a:xfrm>
            <a:off x="8324088" y="2743200"/>
            <a:ext cx="3179064" cy="502920"/>
          </a:xfrm>
          <a:prstGeom prst="rect">
            <a:avLst/>
          </a:prstGeom>
          <a:noFill/>
          <a:ln/>
        </p:spPr>
        <p:txBody>
          <a:bodyPr wrap="square" lIns="0" tIns="0" rIns="0" bIns="0" rtlCol="0" anchor="ctr"/>
          <a:lstStyle/>
          <a:p>
            <a:pPr marL="0" indent="0" algn="ctr">
              <a:buNone/>
            </a:pPr>
            <a:r>
              <a:rPr sz="1200" b="1" dirty="0">
                <a:solidFill>
                  <a:schemeClr val="bg1"/>
                </a:solidFill>
                <a:latin typeface="Aptos"/>
              </a:rPr>
              <a:t>Average Regional NPS</a:t>
            </a:r>
            <a:endParaRPr lang="en-US" sz="1100" b="1" dirty="0">
              <a:solidFill>
                <a:schemeClr val="bg1"/>
              </a:solidFill>
            </a:endParaRPr>
          </a:p>
        </p:txBody>
      </p:sp>
      <p:sp>
        <p:nvSpPr>
          <p:cNvPr id="13" name="summary_label"/>
          <p:cNvSpPr txBox="1"/>
          <p:nvPr/>
        </p:nvSpPr>
        <p:spPr>
          <a:xfrm>
            <a:off x="548640" y="3520440"/>
            <a:ext cx="9235440" cy="365760"/>
          </a:xfrm>
          <a:prstGeom prst="rect">
            <a:avLst/>
          </a:prstGeom>
          <a:noFill/>
          <a:ln/>
        </p:spPr>
        <p:txBody>
          <a:bodyPr wrap="square" lIns="0" tIns="0" rIns="0" bIns="0" rtlCol="0" anchor="ctr"/>
          <a:lstStyle/>
          <a:p>
            <a:pPr marL="0" indent="0" algn="l">
              <a:buNone/>
            </a:pPr>
            <a:r>
              <a:rPr lang="en-US" sz="1300" b="1" kern="0" spc="200" dirty="0">
                <a:solidFill>
                  <a:srgbClr val="CADCFC"/>
                </a:solidFill>
                <a:latin typeface="Calibri" pitchFamily="34" charset="0"/>
                <a:ea typeface="Calibri" pitchFamily="34" charset="-122"/>
                <a:cs typeface="Calibri" pitchFamily="34" charset="-120"/>
              </a:rPr>
              <a:t>EXECUTIVE SUMMARY</a:t>
            </a:r>
            <a:endParaRPr lang="en-US" sz="1300" dirty="0"/>
          </a:p>
        </p:txBody>
      </p:sp>
      <p:sp>
        <p:nvSpPr>
          <p:cNvPr id="14" name="summary_text"/>
          <p:cNvSpPr txBox="1"/>
          <p:nvPr/>
        </p:nvSpPr>
        <p:spPr>
          <a:xfrm>
            <a:off x="548640" y="3886200"/>
            <a:ext cx="9235440" cy="2331720"/>
          </a:xfrm>
          <a:prstGeom prst="rect">
            <a:avLst/>
          </a:prstGeom>
          <a:noFill/>
          <a:ln/>
        </p:spPr>
        <p:txBody>
          <a:bodyPr wrap="square" lIns="0" tIns="0" rIns="0" bIns="0" rtlCol="0" anchor="t"/>
          <a:lstStyle/>
          <a:p>
            <a:pPr marL="0" indent="0" algn="l">
              <a:buNone/>
            </a:pPr>
            <a:r>
              <a:rPr sz="1500" b="0" dirty="0" err="1">
                <a:solidFill>
                  <a:schemeClr val="bg1"/>
                </a:solidFill>
                <a:latin typeface="Aptos"/>
              </a:rPr>
              <a:t>NovaRetail</a:t>
            </a:r>
            <a:r>
              <a:rPr sz="1500" b="0" dirty="0">
                <a:solidFill>
                  <a:schemeClr val="bg1"/>
                </a:solidFill>
                <a:latin typeface="Aptos"/>
              </a:rPr>
              <a:t> closed Q2 2026 with revenue of $1.28B, up 4.5% from Q1. APAC delivered the strongest quarterly growth and the highest customer advocacy score. Latin America continued to contract while its customer experience and operational metrics deteriorated. APAC's capacity constraints also require attention to protect future growth.</a:t>
            </a:r>
            <a:endParaRPr lang="en-US" sz="1800" dirty="0">
              <a:solidFill>
                <a:schemeClr val="bg1"/>
              </a:solidFill>
            </a:endParaRPr>
          </a:p>
        </p:txBody>
      </p:sp>
      <p:sp>
        <p:nvSpPr>
          <p:cNvPr id="17" name="footer_1"/>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9FB3E8"/>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18" name="page_num_1"/>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9FB3E8"/>
                </a:solidFill>
                <a:latin typeface="Calibri" pitchFamily="34" charset="0"/>
                <a:ea typeface="Calibri" pitchFamily="34" charset="-122"/>
                <a:cs typeface="Calibri" pitchFamily="34" charset="-120"/>
              </a:rPr>
              <a:t>1</a:t>
            </a:r>
            <a:endParaRPr lang="en-US" sz="950" dirty="0"/>
          </a:p>
        </p:txBody>
      </p:sp>
      <p:pic>
        <p:nvPicPr>
          <p:cNvPr id="19" name="Picture 18" descr="globe_region.png"/>
          <p:cNvPicPr>
            <a:picLocks noChangeAspect="1"/>
          </p:cNvPicPr>
          <p:nvPr/>
        </p:nvPicPr>
        <p:blipFill>
          <a:blip r:embed="rId3"/>
          <a:stretch>
            <a:fillRect/>
          </a:stretch>
        </p:blipFill>
        <p:spPr>
          <a:xfrm>
            <a:off x="10058400" y="3886200"/>
            <a:ext cx="1581912" cy="15819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itle_2"/>
          <p:cNvSpPr txBox="1"/>
          <p:nvPr/>
        </p:nvSpPr>
        <p:spPr>
          <a:xfrm>
            <a:off x="548640" y="365760"/>
            <a:ext cx="11091672" cy="868680"/>
          </a:xfrm>
          <a:prstGeom prst="rect">
            <a:avLst/>
          </a:prstGeom>
          <a:noFill/>
          <a:ln/>
        </p:spPr>
        <p:txBody>
          <a:bodyPr wrap="square" lIns="0" tIns="0" rIns="0" bIns="0" rtlCol="0" anchor="t"/>
          <a:lstStyle/>
          <a:p>
            <a:pPr marL="0" indent="0" algn="l">
              <a:buNone/>
            </a:pPr>
            <a:r>
              <a:rPr sz="2300" b="1">
                <a:solidFill>
                  <a:srgbClr val="111827"/>
                </a:solidFill>
                <a:latin typeface="Aptos"/>
              </a:rPr>
              <a:t>APAC Drives Growth as Latin America Declines Further</a:t>
            </a:r>
            <a:endParaRPr lang="en-US" sz="2400" dirty="0"/>
          </a:p>
        </p:txBody>
      </p:sp>
      <p:sp>
        <p:nvSpPr>
          <p:cNvPr id="5" name="insights_performance"/>
          <p:cNvSpPr txBox="1"/>
          <p:nvPr/>
        </p:nvSpPr>
        <p:spPr>
          <a:xfrm>
            <a:off x="7543800" y="1417320"/>
            <a:ext cx="4096512" cy="3474720"/>
          </a:xfrm>
          <a:prstGeom prst="rect">
            <a:avLst/>
          </a:prstGeom>
          <a:noFill/>
          <a:ln/>
        </p:spPr>
        <p:txBody>
          <a:bodyPr wrap="square" lIns="100000" tIns="80000" rIns="100000" bIns="80000" rtlCol="0" anchor="t"/>
          <a:lstStyle/>
          <a:p>
            <a:pPr marL="0" indent="0" algn="l">
              <a:lnSpc>
                <a:spcPct val="110000"/>
              </a:lnSpc>
              <a:spcAft>
                <a:spcPts val="1200"/>
              </a:spcAft>
              <a:buNone/>
              <a:defRPr sz="1400">
                <a:solidFill>
                  <a:srgbClr val="374151"/>
                </a:solidFill>
                <a:latin typeface="Aptos"/>
              </a:defRPr>
            </a:pPr>
            <a:r>
              <a:t>• APAC revenue reached $330M, increasing 8.2% QoQ.</a:t>
            </a:r>
            <a:endParaRPr lang="en-US" sz="1350" dirty="0"/>
          </a:p>
          <a:p>
            <a:pPr>
              <a:lnSpc>
                <a:spcPct val="110000"/>
              </a:lnSpc>
              <a:spcAft>
                <a:spcPts val="1200"/>
              </a:spcAft>
              <a:defRPr sz="1400">
                <a:solidFill>
                  <a:srgbClr val="374151"/>
                </a:solidFill>
                <a:latin typeface="Aptos"/>
              </a:defRPr>
            </a:pPr>
            <a:r>
              <a:t>• North America remained the largest market at $465M.</a:t>
            </a:r>
          </a:p>
          <a:p>
            <a:pPr>
              <a:lnSpc>
                <a:spcPct val="110000"/>
              </a:lnSpc>
              <a:spcAft>
                <a:spcPts val="1200"/>
              </a:spcAft>
              <a:defRPr sz="1400">
                <a:solidFill>
                  <a:srgbClr val="374151"/>
                </a:solidFill>
                <a:latin typeface="Aptos"/>
              </a:defRPr>
            </a:pPr>
            <a:r>
              <a:t>• Europe improved 4.5% QoQ but remained below its Q4 peak.</a:t>
            </a:r>
          </a:p>
          <a:p>
            <a:pPr>
              <a:lnSpc>
                <a:spcPct val="110000"/>
              </a:lnSpc>
              <a:spcAft>
                <a:spcPts val="1200"/>
              </a:spcAft>
              <a:defRPr sz="1400">
                <a:solidFill>
                  <a:srgbClr val="374151"/>
                </a:solidFill>
                <a:latin typeface="Aptos"/>
              </a:defRPr>
            </a:pPr>
            <a:r>
              <a:t>• Latin America declined 6.7% QoQ while returns reached 8.2%.</a:t>
            </a:r>
          </a:p>
        </p:txBody>
      </p:sp>
      <p:sp>
        <p:nvSpPr>
          <p:cNvPr id="8" name="footer_2"/>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2"/>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5B6B8C"/>
                </a:solidFill>
                <a:latin typeface="Calibri" pitchFamily="34" charset="0"/>
                <a:ea typeface="Calibri" pitchFamily="34" charset="-122"/>
                <a:cs typeface="Calibri" pitchFamily="34" charset="-120"/>
              </a:rPr>
              <a:t>2</a:t>
            </a:r>
            <a:endParaRPr lang="en-US" sz="950" dirty="0"/>
          </a:p>
        </p:txBody>
      </p:sp>
      <p:graphicFrame>
        <p:nvGraphicFramePr>
          <p:cNvPr id="10" name="Chart 9"/>
          <p:cNvGraphicFramePr>
            <a:graphicFrameLocks noGrp="1"/>
          </p:cNvGraphicFramePr>
          <p:nvPr/>
        </p:nvGraphicFramePr>
        <p:xfrm>
          <a:off x="548640" y="1417320"/>
          <a:ext cx="6675120" cy="4800600"/>
        </p:xfrm>
        <a:graphic>
          <a:graphicData uri="http://schemas.openxmlformats.org/drawingml/2006/chart">
            <c:chart xmlns:c="http://schemas.openxmlformats.org/drawingml/2006/chart" xmlns:r="http://schemas.openxmlformats.org/officeDocument/2006/relationships" r:id="rId3"/>
          </a:graphicData>
        </a:graphic>
      </p:graphicFrame>
      <p:pic>
        <p:nvPicPr>
          <p:cNvPr id="11" name="Picture 10" descr="growth_chart.png"/>
          <p:cNvPicPr>
            <a:picLocks noChangeAspect="1"/>
          </p:cNvPicPr>
          <p:nvPr/>
        </p:nvPicPr>
        <p:blipFill>
          <a:blip r:embed="rId4"/>
          <a:stretch>
            <a:fillRect/>
          </a:stretch>
        </p:blipFill>
        <p:spPr>
          <a:xfrm>
            <a:off x="7680960" y="5166360"/>
            <a:ext cx="1051560" cy="1051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itle_3"/>
          <p:cNvSpPr txBox="1"/>
          <p:nvPr/>
        </p:nvSpPr>
        <p:spPr>
          <a:xfrm>
            <a:off x="548640" y="365760"/>
            <a:ext cx="11091672" cy="868680"/>
          </a:xfrm>
          <a:prstGeom prst="rect">
            <a:avLst/>
          </a:prstGeom>
          <a:noFill/>
          <a:ln/>
        </p:spPr>
        <p:txBody>
          <a:bodyPr wrap="square" lIns="0" tIns="0" rIns="0" bIns="0" rtlCol="0" anchor="t"/>
          <a:lstStyle/>
          <a:p>
            <a:pPr marL="0" indent="0" algn="l">
              <a:buNone/>
            </a:pPr>
            <a:r>
              <a:rPr sz="2300" b="1">
                <a:solidFill>
                  <a:srgbClr val="111827"/>
                </a:solidFill>
                <a:latin typeface="Aptos"/>
              </a:rPr>
              <a:t>APAC Sets the CX Benchmark While Latin America Deteriorates</a:t>
            </a:r>
            <a:endParaRPr lang="en-US" sz="2400" dirty="0"/>
          </a:p>
        </p:txBody>
      </p:sp>
      <p:sp>
        <p:nvSpPr>
          <p:cNvPr id="5" name="insights_customer"/>
          <p:cNvSpPr txBox="1"/>
          <p:nvPr/>
        </p:nvSpPr>
        <p:spPr>
          <a:xfrm>
            <a:off x="7543800" y="1417320"/>
            <a:ext cx="4096512" cy="3474720"/>
          </a:xfrm>
          <a:prstGeom prst="rect">
            <a:avLst/>
          </a:prstGeom>
          <a:noFill/>
          <a:ln/>
        </p:spPr>
        <p:txBody>
          <a:bodyPr wrap="square" lIns="100000" tIns="80000" rIns="100000" bIns="80000" rtlCol="0" anchor="t"/>
          <a:lstStyle/>
          <a:p>
            <a:pPr marL="0" indent="0" algn="l">
              <a:lnSpc>
                <a:spcPct val="110000"/>
              </a:lnSpc>
              <a:spcAft>
                <a:spcPts val="1200"/>
              </a:spcAft>
              <a:buNone/>
              <a:defRPr sz="1400">
                <a:solidFill>
                  <a:srgbClr val="374151"/>
                </a:solidFill>
                <a:latin typeface="Aptos"/>
              </a:defRPr>
            </a:pPr>
            <a:r>
              <a:t>• APAC led customer experience with NPS 62 and CSAT of 92%.</a:t>
            </a:r>
            <a:endParaRPr lang="en-US" sz="1350" dirty="0"/>
          </a:p>
          <a:p>
            <a:pPr>
              <a:lnSpc>
                <a:spcPct val="110000"/>
              </a:lnSpc>
              <a:spcAft>
                <a:spcPts val="1200"/>
              </a:spcAft>
              <a:defRPr sz="1400">
                <a:solidFill>
                  <a:srgbClr val="374151"/>
                </a:solidFill>
                <a:latin typeface="Aptos"/>
              </a:defRPr>
            </a:pPr>
            <a:r>
              <a:t>• North America and Europe improved to NPS 55 and 53.</a:t>
            </a:r>
          </a:p>
          <a:p>
            <a:pPr>
              <a:lnSpc>
                <a:spcPct val="110000"/>
              </a:lnSpc>
              <a:spcAft>
                <a:spcPts val="1200"/>
              </a:spcAft>
              <a:defRPr sz="1400">
                <a:solidFill>
                  <a:srgbClr val="374151"/>
                </a:solidFill>
                <a:latin typeface="Aptos"/>
              </a:defRPr>
            </a:pPr>
            <a:r>
              <a:t>• Latin America NPS fell from 38 to 29 across four quarters.</a:t>
            </a:r>
          </a:p>
          <a:p>
            <a:pPr>
              <a:lnSpc>
                <a:spcPct val="110000"/>
              </a:lnSpc>
              <a:spcAft>
                <a:spcPts val="1200"/>
              </a:spcAft>
              <a:defRPr sz="1400">
                <a:solidFill>
                  <a:srgbClr val="374151"/>
                </a:solidFill>
                <a:latin typeface="Aptos"/>
              </a:defRPr>
            </a:pPr>
            <a:r>
              <a:t>• Delivery reached 7.5 days and support volume rose to 31K.</a:t>
            </a:r>
          </a:p>
        </p:txBody>
      </p:sp>
      <p:sp>
        <p:nvSpPr>
          <p:cNvPr id="8" name="footer_3"/>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3"/>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5B6B8C"/>
                </a:solidFill>
                <a:latin typeface="Calibri" pitchFamily="34" charset="0"/>
                <a:ea typeface="Calibri" pitchFamily="34" charset="-122"/>
                <a:cs typeface="Calibri" pitchFamily="34" charset="-120"/>
              </a:rPr>
              <a:t>3</a:t>
            </a:r>
            <a:endParaRPr lang="en-US" sz="950" dirty="0"/>
          </a:p>
        </p:txBody>
      </p:sp>
      <p:graphicFrame>
        <p:nvGraphicFramePr>
          <p:cNvPr id="10" name="Chart 9"/>
          <p:cNvGraphicFramePr>
            <a:graphicFrameLocks noGrp="1"/>
          </p:cNvGraphicFramePr>
          <p:nvPr/>
        </p:nvGraphicFramePr>
        <p:xfrm>
          <a:off x="548640" y="1417320"/>
          <a:ext cx="6675120" cy="4800600"/>
        </p:xfrm>
        <a:graphic>
          <a:graphicData uri="http://schemas.openxmlformats.org/drawingml/2006/chart">
            <c:chart xmlns:c="http://schemas.openxmlformats.org/drawingml/2006/chart" xmlns:r="http://schemas.openxmlformats.org/officeDocument/2006/relationships" r:id="rId3"/>
          </a:graphicData>
        </a:graphic>
      </p:graphicFrame>
      <p:pic>
        <p:nvPicPr>
          <p:cNvPr id="11" name="Picture 10" descr="customer_star.png"/>
          <p:cNvPicPr>
            <a:picLocks noChangeAspect="1"/>
          </p:cNvPicPr>
          <p:nvPr/>
        </p:nvPicPr>
        <p:blipFill>
          <a:blip r:embed="rId4"/>
          <a:stretch>
            <a:fillRect/>
          </a:stretch>
        </p:blipFill>
        <p:spPr>
          <a:xfrm>
            <a:off x="7680960" y="5166360"/>
            <a:ext cx="1051560" cy="1051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itle_4"/>
          <p:cNvSpPr txBox="1"/>
          <p:nvPr/>
        </p:nvSpPr>
        <p:spPr>
          <a:xfrm>
            <a:off x="548640" y="365760"/>
            <a:ext cx="11091672" cy="868680"/>
          </a:xfrm>
          <a:prstGeom prst="rect">
            <a:avLst/>
          </a:prstGeom>
          <a:noFill/>
          <a:ln/>
        </p:spPr>
        <p:txBody>
          <a:bodyPr wrap="square" lIns="0" tIns="0" rIns="0" bIns="0" rtlCol="0" anchor="t"/>
          <a:lstStyle/>
          <a:p>
            <a:pPr marL="0" indent="0" algn="l">
              <a:buNone/>
            </a:pPr>
            <a:r>
              <a:rPr sz="2300" b="1">
                <a:solidFill>
                  <a:srgbClr val="111827"/>
                </a:solidFill>
                <a:latin typeface="Aptos"/>
              </a:rPr>
              <a:t>Capacity Pressure and Regional Risk Demand Immediate Action</a:t>
            </a:r>
            <a:endParaRPr lang="en-US" sz="2400" dirty="0"/>
          </a:p>
        </p:txBody>
      </p:sp>
      <p:sp>
        <p:nvSpPr>
          <p:cNvPr id="5" name="insights_risk"/>
          <p:cNvSpPr txBox="1"/>
          <p:nvPr/>
        </p:nvSpPr>
        <p:spPr>
          <a:xfrm>
            <a:off x="7543800" y="1417320"/>
            <a:ext cx="4096512" cy="3474720"/>
          </a:xfrm>
          <a:prstGeom prst="rect">
            <a:avLst/>
          </a:prstGeom>
          <a:noFill/>
          <a:ln/>
        </p:spPr>
        <p:txBody>
          <a:bodyPr wrap="square" lIns="100000" tIns="80000" rIns="100000" bIns="80000" rtlCol="0" anchor="t"/>
          <a:lstStyle/>
          <a:p>
            <a:pPr marL="0" indent="0" algn="l">
              <a:lnSpc>
                <a:spcPct val="110000"/>
              </a:lnSpc>
              <a:spcAft>
                <a:spcPts val="1200"/>
              </a:spcAft>
              <a:buNone/>
              <a:defRPr sz="1400">
                <a:solidFill>
                  <a:srgbClr val="374151"/>
                </a:solidFill>
                <a:latin typeface="Aptos"/>
              </a:defRPr>
            </a:pPr>
            <a:r>
              <a:t>• Latin America stockouts reached 12.5%, the highest level.</a:t>
            </a:r>
            <a:endParaRPr lang="en-US" sz="1350" dirty="0"/>
          </a:p>
          <a:p>
            <a:pPr>
              <a:lnSpc>
                <a:spcPct val="110000"/>
              </a:lnSpc>
              <a:spcAft>
                <a:spcPts val="1200"/>
              </a:spcAft>
              <a:defRPr sz="1400">
                <a:solidFill>
                  <a:srgbClr val="374151"/>
                </a:solidFill>
                <a:latin typeface="Aptos"/>
              </a:defRPr>
            </a:pPr>
            <a:r>
              <a:t>• Return processing in Latin America increased to 10 days.</a:t>
            </a:r>
          </a:p>
          <a:p>
            <a:pPr>
              <a:lnSpc>
                <a:spcPct val="110000"/>
              </a:lnSpc>
              <a:spcAft>
                <a:spcPts val="1200"/>
              </a:spcAft>
              <a:defRPr sz="1400">
                <a:solidFill>
                  <a:srgbClr val="374151"/>
                </a:solidFill>
                <a:latin typeface="Aptos"/>
              </a:defRPr>
            </a:pPr>
            <a:r>
              <a:t>• Fraud incidents rose from 18 to 30 across four quarters.</a:t>
            </a:r>
          </a:p>
          <a:p>
            <a:pPr>
              <a:lnSpc>
                <a:spcPct val="110000"/>
              </a:lnSpc>
              <a:spcAft>
                <a:spcPts val="1200"/>
              </a:spcAft>
              <a:defRPr sz="1400">
                <a:solidFill>
                  <a:srgbClr val="374151"/>
                </a:solidFill>
                <a:latin typeface="Aptos"/>
              </a:defRPr>
            </a:pPr>
            <a:r>
              <a:t>• APAC warehouse utilization reached 92%, constraining growth.</a:t>
            </a:r>
          </a:p>
        </p:txBody>
      </p:sp>
      <p:sp>
        <p:nvSpPr>
          <p:cNvPr id="8" name="footer_4"/>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5B6B8C"/>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9" name="page_num_4"/>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5B6B8C"/>
                </a:solidFill>
                <a:latin typeface="Calibri" pitchFamily="34" charset="0"/>
                <a:ea typeface="Calibri" pitchFamily="34" charset="-122"/>
                <a:cs typeface="Calibri" pitchFamily="34" charset="-120"/>
              </a:rPr>
              <a:t>4</a:t>
            </a:r>
            <a:endParaRPr lang="en-US" sz="950" dirty="0"/>
          </a:p>
        </p:txBody>
      </p:sp>
      <p:graphicFrame>
        <p:nvGraphicFramePr>
          <p:cNvPr id="10" name="Chart 9"/>
          <p:cNvGraphicFramePr>
            <a:graphicFrameLocks noGrp="1"/>
          </p:cNvGraphicFramePr>
          <p:nvPr/>
        </p:nvGraphicFramePr>
        <p:xfrm>
          <a:off x="548640" y="1417320"/>
          <a:ext cx="6675120" cy="4800600"/>
        </p:xfrm>
        <a:graphic>
          <a:graphicData uri="http://schemas.openxmlformats.org/drawingml/2006/chart">
            <c:chart xmlns:c="http://schemas.openxmlformats.org/drawingml/2006/chart" xmlns:r="http://schemas.openxmlformats.org/officeDocument/2006/relationships" r:id="rId3"/>
          </a:graphicData>
        </a:graphic>
      </p:graphicFrame>
      <p:pic>
        <p:nvPicPr>
          <p:cNvPr id="11" name="Picture 10" descr="risk_alert.png"/>
          <p:cNvPicPr>
            <a:picLocks noChangeAspect="1"/>
          </p:cNvPicPr>
          <p:nvPr/>
        </p:nvPicPr>
        <p:blipFill>
          <a:blip r:embed="rId4"/>
          <a:stretch>
            <a:fillRect/>
          </a:stretch>
        </p:blipFill>
        <p:spPr>
          <a:xfrm>
            <a:off x="7680960" y="5166360"/>
            <a:ext cx="1051560" cy="1051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itle_5"/>
          <p:cNvSpPr txBox="1"/>
          <p:nvPr/>
        </p:nvSpPr>
        <p:spPr>
          <a:xfrm>
            <a:off x="548640" y="457200"/>
            <a:ext cx="11091672" cy="73152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Recommended Actions &amp; Next Steps</a:t>
            </a:r>
            <a:endParaRPr lang="en-US" sz="2800" dirty="0"/>
          </a:p>
        </p:txBody>
      </p:sp>
      <p:sp>
        <p:nvSpPr>
          <p:cNvPr id="3" name="recommendations_text"/>
          <p:cNvSpPr txBox="1"/>
          <p:nvPr/>
        </p:nvSpPr>
        <p:spPr>
          <a:xfrm>
            <a:off x="548640" y="1463040"/>
            <a:ext cx="6675120" cy="4206240"/>
          </a:xfrm>
          <a:prstGeom prst="rect">
            <a:avLst/>
          </a:prstGeom>
          <a:noFill/>
          <a:ln/>
        </p:spPr>
        <p:txBody>
          <a:bodyPr wrap="square" lIns="100000" tIns="100000" rIns="100000" bIns="100000" rtlCol="0" anchor="t"/>
          <a:lstStyle/>
          <a:p>
            <a:pPr marL="285750" indent="-285750" algn="l">
              <a:lnSpc>
                <a:spcPct val="110000"/>
              </a:lnSpc>
              <a:spcAft>
                <a:spcPts val="1600"/>
              </a:spcAft>
              <a:buFont typeface="Arial" panose="020B0604020202020204" pitchFamily="34" charset="0"/>
              <a:buChar char="•"/>
            </a:pPr>
            <a:r>
              <a:rPr sz="1500" b="1" dirty="0">
                <a:solidFill>
                  <a:schemeClr val="bg1"/>
                </a:solidFill>
                <a:latin typeface="Aptos"/>
              </a:rPr>
              <a:t>Expand Apac Capacity: </a:t>
            </a:r>
            <a:r>
              <a:rPr sz="1500" dirty="0">
                <a:solidFill>
                  <a:schemeClr val="bg1"/>
                </a:solidFill>
                <a:latin typeface="Aptos"/>
              </a:rPr>
              <a:t>Increase warehouse capacity and improve inventory allocation.</a:t>
            </a:r>
            <a:endParaRPr lang="en-US" sz="1600" dirty="0">
              <a:solidFill>
                <a:schemeClr val="bg1"/>
              </a:solidFill>
            </a:endParaRPr>
          </a:p>
          <a:p>
            <a:pPr marL="285750" indent="-285750">
              <a:lnSpc>
                <a:spcPct val="110000"/>
              </a:lnSpc>
              <a:spcAft>
                <a:spcPts val="1600"/>
              </a:spcAft>
              <a:buFont typeface="Arial" panose="020B0604020202020204" pitchFamily="34" charset="0"/>
              <a:buChar char="•"/>
            </a:pPr>
            <a:r>
              <a:rPr sz="1500" b="1" dirty="0">
                <a:solidFill>
                  <a:schemeClr val="bg1"/>
                </a:solidFill>
                <a:latin typeface="Aptos"/>
              </a:rPr>
              <a:t>Stabilize Latin America: </a:t>
            </a:r>
            <a:r>
              <a:rPr sz="1500" dirty="0">
                <a:solidFill>
                  <a:schemeClr val="bg1"/>
                </a:solidFill>
                <a:latin typeface="Aptos"/>
              </a:rPr>
              <a:t>Address fulfillment, returns and support workload</a:t>
            </a:r>
            <a:r>
              <a:rPr sz="1500" dirty="0">
                <a:solidFill>
                  <a:srgbClr val="374151"/>
                </a:solidFill>
                <a:latin typeface="Aptos"/>
              </a:rPr>
              <a:t>.</a:t>
            </a:r>
            <a:endParaRPr lang="en-US" sz="1500" dirty="0">
              <a:solidFill>
                <a:srgbClr val="374151"/>
              </a:solidFill>
              <a:latin typeface="Aptos"/>
            </a:endParaRPr>
          </a:p>
          <a:p>
            <a:pPr marL="285750" indent="-285750">
              <a:lnSpc>
                <a:spcPct val="110000"/>
              </a:lnSpc>
              <a:spcAft>
                <a:spcPts val="1600"/>
              </a:spcAft>
              <a:buFont typeface="Arial" panose="020B0604020202020204" pitchFamily="34" charset="0"/>
              <a:buChar char="•"/>
            </a:pPr>
            <a:r>
              <a:rPr sz="1500" b="1" dirty="0">
                <a:solidFill>
                  <a:schemeClr val="bg1"/>
                </a:solidFill>
                <a:latin typeface="Aptos"/>
              </a:rPr>
              <a:t>Strengthen Fraud Controls</a:t>
            </a:r>
            <a:r>
              <a:rPr lang="en-US" sz="1500" b="1" dirty="0">
                <a:solidFill>
                  <a:schemeClr val="bg1"/>
                </a:solidFill>
                <a:latin typeface="Aptos"/>
              </a:rPr>
              <a:t>:</a:t>
            </a:r>
            <a:r>
              <a:rPr lang="en-US" sz="1500" b="1" dirty="0">
                <a:solidFill>
                  <a:srgbClr val="0F766E"/>
                </a:solidFill>
                <a:latin typeface="Aptos"/>
              </a:rPr>
              <a:t> </a:t>
            </a:r>
            <a:r>
              <a:rPr sz="1500" dirty="0">
                <a:solidFill>
                  <a:schemeClr val="bg1"/>
                </a:solidFill>
                <a:latin typeface="Aptos"/>
              </a:rPr>
              <a:t>Prioritize preventive transaction monitoring.</a:t>
            </a:r>
          </a:p>
          <a:p>
            <a:pPr>
              <a:lnSpc>
                <a:spcPct val="110000"/>
              </a:lnSpc>
              <a:spcAft>
                <a:spcPts val="1600"/>
              </a:spcAft>
            </a:pPr>
            <a:r>
              <a:rPr sz="1500" b="1" dirty="0">
                <a:solidFill>
                  <a:srgbClr val="0F766E"/>
                </a:solidFill>
                <a:latin typeface="Aptos"/>
              </a:rPr>
              <a:t>• </a:t>
            </a:r>
            <a:r>
              <a:rPr sz="1500" b="1" dirty="0">
                <a:solidFill>
                  <a:schemeClr val="bg1"/>
                </a:solidFill>
                <a:latin typeface="Aptos"/>
              </a:rPr>
              <a:t>Replicate C</a:t>
            </a:r>
            <a:r>
              <a:rPr lang="en-US" sz="1500" b="1" dirty="0">
                <a:solidFill>
                  <a:schemeClr val="bg1"/>
                </a:solidFill>
                <a:latin typeface="Aptos"/>
              </a:rPr>
              <a:t>X</a:t>
            </a:r>
            <a:r>
              <a:rPr sz="1500" b="1" dirty="0">
                <a:solidFill>
                  <a:schemeClr val="bg1"/>
                </a:solidFill>
                <a:latin typeface="Aptos"/>
              </a:rPr>
              <a:t> Practices: </a:t>
            </a:r>
            <a:r>
              <a:rPr sz="1500" dirty="0">
                <a:solidFill>
                  <a:schemeClr val="bg1"/>
                </a:solidFill>
                <a:latin typeface="Aptos"/>
              </a:rPr>
              <a:t>A</a:t>
            </a:r>
            <a:r>
              <a:rPr lang="en-US" sz="1500" dirty="0">
                <a:solidFill>
                  <a:schemeClr val="bg1"/>
                </a:solidFill>
                <a:latin typeface="Aptos"/>
              </a:rPr>
              <a:t>pply A</a:t>
            </a:r>
            <a:r>
              <a:rPr sz="1500" dirty="0">
                <a:solidFill>
                  <a:schemeClr val="bg1"/>
                </a:solidFill>
                <a:latin typeface="Aptos"/>
              </a:rPr>
              <a:t>PAC delivery and support practices in weaker markets.</a:t>
            </a:r>
          </a:p>
        </p:txBody>
      </p:sp>
      <p:sp>
        <p:nvSpPr>
          <p:cNvPr id="6" name="closing_statement"/>
          <p:cNvSpPr txBox="1"/>
          <p:nvPr/>
        </p:nvSpPr>
        <p:spPr>
          <a:xfrm>
            <a:off x="548640" y="5897880"/>
            <a:ext cx="9235440" cy="457200"/>
          </a:xfrm>
          <a:prstGeom prst="rect">
            <a:avLst/>
          </a:prstGeom>
          <a:noFill/>
          <a:ln/>
        </p:spPr>
        <p:txBody>
          <a:bodyPr wrap="square" lIns="0" tIns="0" rIns="0" bIns="0" rtlCol="0" anchor="t"/>
          <a:lstStyle/>
          <a:p>
            <a:pPr marL="0" indent="0" algn="ctr">
              <a:buNone/>
            </a:pPr>
            <a:r>
              <a:rPr sz="1700" b="1" dirty="0">
                <a:solidFill>
                  <a:schemeClr val="accent6">
                    <a:lumMod val="20000"/>
                    <a:lumOff val="80000"/>
                  </a:schemeClr>
                </a:solidFill>
                <a:latin typeface="Aptos"/>
              </a:rPr>
              <a:t>Protect APAC's growth while making Latin America's recovery the immediate leadership priority.</a:t>
            </a:r>
            <a:endParaRPr lang="en-US" sz="1400" dirty="0">
              <a:solidFill>
                <a:schemeClr val="accent6">
                  <a:lumMod val="20000"/>
                  <a:lumOff val="80000"/>
                </a:schemeClr>
              </a:solidFill>
            </a:endParaRPr>
          </a:p>
        </p:txBody>
      </p:sp>
      <p:sp>
        <p:nvSpPr>
          <p:cNvPr id="7" name="footer_5"/>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50" dirty="0">
                <a:solidFill>
                  <a:srgbClr val="9FB3E8"/>
                </a:solidFill>
                <a:latin typeface="Calibri" pitchFamily="34" charset="0"/>
                <a:ea typeface="Calibri" pitchFamily="34" charset="-122"/>
                <a:cs typeface="Calibri" pitchFamily="34" charset="-120"/>
              </a:rPr>
              <a:t>NovaRetail Quarterly Business Review  —  Capstone Template</a:t>
            </a:r>
            <a:endParaRPr lang="en-US" sz="950" dirty="0"/>
          </a:p>
        </p:txBody>
      </p:sp>
      <p:sp>
        <p:nvSpPr>
          <p:cNvPr id="8" name="page_num_5"/>
          <p:cNvSpPr txBox="1"/>
          <p:nvPr/>
        </p:nvSpPr>
        <p:spPr>
          <a:xfrm>
            <a:off x="11274552" y="6510528"/>
            <a:ext cx="365760" cy="274320"/>
          </a:xfrm>
          <a:prstGeom prst="rect">
            <a:avLst/>
          </a:prstGeom>
          <a:noFill/>
          <a:ln/>
        </p:spPr>
        <p:txBody>
          <a:bodyPr wrap="square" lIns="0" tIns="0" rIns="0" bIns="0" rtlCol="0" anchor="ctr"/>
          <a:lstStyle/>
          <a:p>
            <a:pPr marL="0" indent="0" algn="r">
              <a:buNone/>
            </a:pPr>
            <a:r>
              <a:rPr lang="en-US" sz="950" dirty="0">
                <a:solidFill>
                  <a:srgbClr val="9FB3E8"/>
                </a:solidFill>
                <a:latin typeface="Calibri" pitchFamily="34" charset="0"/>
                <a:ea typeface="Calibri" pitchFamily="34" charset="-122"/>
                <a:cs typeface="Calibri" pitchFamily="34" charset="-120"/>
              </a:rPr>
              <a:t>5</a:t>
            </a:r>
            <a:endParaRPr lang="en-US" sz="950" dirty="0"/>
          </a:p>
        </p:txBody>
      </p:sp>
      <p:pic>
        <p:nvPicPr>
          <p:cNvPr id="9" name="Picture 8" descr="lightbulb_action.png"/>
          <p:cNvPicPr>
            <a:picLocks noChangeAspect="1"/>
          </p:cNvPicPr>
          <p:nvPr/>
        </p:nvPicPr>
        <p:blipFill>
          <a:blip r:embed="rId3"/>
          <a:stretch>
            <a:fillRect/>
          </a:stretch>
        </p:blipFill>
        <p:spPr>
          <a:xfrm>
            <a:off x="7589520" y="1463040"/>
            <a:ext cx="1463040" cy="1463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7f6b194-73f8-48d3-95d2-0d2530a9bb45}" enabled="1" method="Standard" siteId="{0483ae51-a627-466e-a7dd-de2ac7e1238e}" contentBits="2" removed="0"/>
</clbl:labelList>
</file>

<file path=docProps/app.xml><?xml version="1.0" encoding="utf-8"?>
<Properties xmlns="http://schemas.openxmlformats.org/officeDocument/2006/extended-properties" xmlns:vt="http://schemas.openxmlformats.org/officeDocument/2006/docPropsVTypes">
  <TotalTime>0</TotalTime>
  <Words>378</Words>
  <Application>Microsoft Office PowerPoint</Application>
  <PresentationFormat>Widescreen</PresentationFormat>
  <Paragraphs>49</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Sneha Upadhyay</cp:lastModifiedBy>
  <cp:revision>3</cp:revision>
  <dcterms:created xsi:type="dcterms:W3CDTF">2026-10-05T14:35:45Z</dcterms:created>
  <dcterms:modified xsi:type="dcterms:W3CDTF">2026-10-14T08:26:54Z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Sensitivity: Internal</vt:lpwstr>
  </property>
</Properties>
</file>